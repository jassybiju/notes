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 txBox="1"/>
          <p:nvPr>
            <p:ph idx="3"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" name="Google Shape;6;n"/>
          <p:cNvSpPr txBox="1"/>
          <p:nvPr>
            <p:ph idx="10"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" name="Google Shape;15;p1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1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" name="Google Shape;31;p2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2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" name="Google Shape;51;p4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4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2" name="Google Shape;72;p5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5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6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4" name="Google Shape;84;p6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6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 type="blank">
  <p:cSld name="BLANK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/>
          <p:nvPr/>
        </p:nvSpPr>
        <p:spPr>
          <a:xfrm>
            <a:off x="9692640" y="-1645920"/>
            <a:ext cx="4754520" cy="4754520"/>
          </a:xfrm>
          <a:prstGeom prst="ellipse">
            <a:avLst/>
          </a:prstGeom>
          <a:solidFill>
            <a:srgbClr val="3A3F5C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10607040" y="-822960"/>
            <a:ext cx="2925720" cy="2925720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731520" y="1554480"/>
            <a:ext cx="822924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ALL HUB MEETING  ·  BCR – BLR</a:t>
            </a:r>
            <a:endParaRPr b="0" sz="1400" strike="noStrik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731520" y="1965960"/>
            <a:ext cx="10058040" cy="1188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Future Club BCR–BLR</a:t>
            </a:r>
            <a:endParaRPr b="0" sz="4400" strike="noStrik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731520" y="2880360"/>
            <a:ext cx="10058040" cy="639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strike="noStrike">
                <a:solidFill>
                  <a:srgbClr val="CADCFC"/>
                </a:solidFill>
                <a:latin typeface="Cambria"/>
                <a:ea typeface="Cambria"/>
                <a:cs typeface="Cambria"/>
                <a:sym typeface="Cambria"/>
              </a:rPr>
              <a:t>Report &amp; Key Concerns</a:t>
            </a:r>
            <a:endParaRPr b="0" sz="2400" strike="noStrik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731520" y="4846320"/>
            <a:ext cx="1919880" cy="639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11</a:t>
            </a:r>
            <a:endParaRPr b="0" sz="3400" strike="noStrik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731520" y="5486400"/>
            <a:ext cx="237708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TOTAL MEMBERS</a:t>
            </a:r>
            <a:endParaRPr b="0" sz="1050" strike="noStrik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3017520" y="4846320"/>
            <a:ext cx="1919880" cy="639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7</a:t>
            </a:r>
            <a:endParaRPr b="0" sz="3400" strike="noStrik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3017520" y="5486400"/>
            <a:ext cx="237708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LEADERS</a:t>
            </a:r>
            <a:endParaRPr b="0" sz="1050" strike="noStrik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5303520" y="4846320"/>
            <a:ext cx="1919880" cy="639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sz="3400" strike="noStrik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5303520" y="5486400"/>
            <a:ext cx="237708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SESSIONS CONDUCTED</a:t>
            </a:r>
            <a:endParaRPr b="0" sz="1050" strike="noStrik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C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/>
          <p:nvPr/>
        </p:nvSpPr>
        <p:spPr>
          <a:xfrm>
            <a:off x="548640" y="411480"/>
            <a:ext cx="9143640" cy="548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Current Club Status</a:t>
            </a:r>
            <a:endParaRPr b="0" sz="3000" strike="noStrik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548640" y="1005840"/>
            <a:ext cx="10789560" cy="45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The club has initiated and conducted multiple technical sessions, but membership and active participation need strengthening.</a:t>
            </a:r>
            <a:endParaRPr b="0" sz="1300" strike="noStrik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548640" y="1874520"/>
            <a:ext cx="3565800" cy="1919880"/>
          </a:xfrm>
          <a:prstGeom prst="roundRect">
            <a:avLst>
              <a:gd fmla="val 3810" name="adj"/>
            </a:avLst>
          </a:prstGeom>
          <a:solidFill>
            <a:srgbClr val="FFFFFF"/>
          </a:solidFill>
          <a:ln>
            <a:noFill/>
          </a:ln>
          <a:effectLst>
            <a:outerShdw blurRad="101520" rotWithShape="0" algn="bl" dir="5400000" dist="38160">
              <a:srgbClr val="1E2761">
                <a:alpha val="12157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548640" y="2103120"/>
            <a:ext cx="356580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2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10</a:t>
            </a:r>
            <a:endParaRPr b="0" sz="5200" strike="noStrik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731520" y="3063240"/>
            <a:ext cx="3200040" cy="548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 strike="noStrike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Total Members</a:t>
            </a:r>
            <a:endParaRPr b="0" sz="1250" strike="noStrik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4434840" y="1874520"/>
            <a:ext cx="3565800" cy="1919880"/>
          </a:xfrm>
          <a:prstGeom prst="roundRect">
            <a:avLst>
              <a:gd fmla="val 3810" name="adj"/>
            </a:avLst>
          </a:prstGeom>
          <a:solidFill>
            <a:srgbClr val="FFFFFF"/>
          </a:solidFill>
          <a:ln>
            <a:noFill/>
          </a:ln>
          <a:effectLst>
            <a:outerShdw blurRad="101520" rotWithShape="0" algn="bl" dir="5400000" dist="38160">
              <a:srgbClr val="1E2761">
                <a:alpha val="12157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434840" y="2103120"/>
            <a:ext cx="356580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200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7</a:t>
            </a:r>
            <a:endParaRPr b="0" sz="5200" strike="noStrik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4617720" y="3063240"/>
            <a:ext cx="3200040" cy="548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 strike="noStrike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Leaders</a:t>
            </a:r>
            <a:endParaRPr b="0" sz="1250" strike="noStrik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8321040" y="2103120"/>
            <a:ext cx="356580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5200" strike="noStrik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8503920" y="3063240"/>
            <a:ext cx="3200040" cy="548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50" strike="noStrik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548640" y="4160520"/>
            <a:ext cx="11091240" cy="1874160"/>
          </a:xfrm>
          <a:prstGeom prst="roundRect">
            <a:avLst>
              <a:gd fmla="val 3902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914400" y="4370760"/>
            <a:ext cx="457164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Observations</a:t>
            </a:r>
            <a:endParaRPr b="0" sz="1300" strike="noStrik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914400" y="4754880"/>
            <a:ext cx="1033236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3080" lvl="0" marL="34308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Noto Sans Symbols"/>
              <a:buChar char="∙"/>
            </a:pPr>
            <a:r>
              <a:rPr b="0" lang="en-US" sz="13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significant portion of the team consists of leaders relative to overall membership</a:t>
            </a:r>
            <a:endParaRPr b="0" sz="1300" strike="noStrik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15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Noto Sans Symbols"/>
              <a:buChar char="∙"/>
            </a:pPr>
            <a:r>
              <a:rPr b="0" lang="en-US" sz="13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Some members are occupied with other commitments, limiting active participation</a:t>
            </a:r>
            <a:endParaRPr b="0" sz="1300" strike="noStrik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15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Noto Sans Symbols"/>
              <a:buChar char="∙"/>
            </a:pPr>
            <a:r>
              <a:rPr b="0" lang="en-US" sz="13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Member distribution skews higher toward BCR compared to Bangalore</a:t>
            </a:r>
            <a:endParaRPr b="0" sz="1300" strike="noStrik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457200" y="6473880"/>
            <a:ext cx="731484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Future Club BCR–BLR  •  All Hub Meeting Report</a:t>
            </a:r>
            <a:endParaRPr b="0" sz="900" strike="noStrik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9902880" y="6473880"/>
            <a:ext cx="182844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sz="900" strike="noStrik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C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"/>
          <p:cNvSpPr/>
          <p:nvPr/>
        </p:nvSpPr>
        <p:spPr>
          <a:xfrm>
            <a:off x="548640" y="411480"/>
            <a:ext cx="9143640" cy="548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Sessions Conducted</a:t>
            </a:r>
            <a:endParaRPr b="0" sz="3000" strike="noStrik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548640" y="1005840"/>
            <a:ext cx="1051524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Three technical sessions covering emerging technologies and advanced concepts.</a:t>
            </a:r>
            <a:endParaRPr b="0" sz="1300" strike="noStrik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1417680" y="1691640"/>
            <a:ext cx="3611520" cy="4297320"/>
          </a:xfrm>
          <a:prstGeom prst="roundRect">
            <a:avLst>
              <a:gd fmla="val 2025" name="adj"/>
            </a:avLst>
          </a:prstGeom>
          <a:solidFill>
            <a:srgbClr val="FFFFFF"/>
          </a:solidFill>
          <a:ln>
            <a:noFill/>
          </a:ln>
          <a:effectLst>
            <a:outerShdw blurRad="101520" rotWithShape="0" algn="bl" dir="5400000" dist="38160">
              <a:srgbClr val="1E2761">
                <a:alpha val="12157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1646280" y="1874520"/>
            <a:ext cx="1371240" cy="548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 strike="noStrike">
                <a:solidFill>
                  <a:srgbClr val="E8A33D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b="0" sz="2600" strike="noStrik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1646280" y="2377440"/>
            <a:ext cx="3154320" cy="59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Zama Concrete ML</a:t>
            </a:r>
            <a:endParaRPr b="0" sz="1600" strike="noStrik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" name="Google Shape;59;p5"/>
          <p:cNvCxnSpPr/>
          <p:nvPr/>
        </p:nvCxnSpPr>
        <p:spPr>
          <a:xfrm>
            <a:off x="1646280" y="2999160"/>
            <a:ext cx="3154680" cy="36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" name="Google Shape;60;p5"/>
          <p:cNvSpPr/>
          <p:nvPr/>
        </p:nvSpPr>
        <p:spPr>
          <a:xfrm>
            <a:off x="1646280" y="3154680"/>
            <a:ext cx="3154320" cy="26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308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430"/>
              </a:buClr>
              <a:buSzPts val="1150"/>
              <a:buFont typeface="Noto Sans Symbols"/>
              <a:buChar char="∙"/>
            </a:pPr>
            <a:r>
              <a:rPr b="0" lang="en-US" sz="1150" strike="noStrike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Learned the basics of Zama Concrete ML and Fully Homomorphic Encryption (FHE).</a:t>
            </a:r>
            <a:endParaRPr b="0" sz="11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1616"/>
              </a:spcBef>
              <a:spcAft>
                <a:spcPts val="0"/>
              </a:spcAft>
              <a:buClr>
                <a:srgbClr val="1F2430"/>
              </a:buClr>
              <a:buSzPts val="1150"/>
              <a:buFont typeface="Noto Sans Symbols"/>
              <a:buChar char="∙"/>
            </a:pPr>
            <a:r>
              <a:rPr b="0" lang="en-US" sz="1150" strike="noStrike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Understood how ML models can perform inference on encrypted data.</a:t>
            </a:r>
            <a:endParaRPr b="0" sz="11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1616"/>
              </a:spcBef>
              <a:spcAft>
                <a:spcPts val="0"/>
              </a:spcAft>
              <a:buClr>
                <a:srgbClr val="1F2430"/>
              </a:buClr>
              <a:buSzPts val="1150"/>
              <a:buFont typeface="Noto Sans Symbols"/>
              <a:buChar char="∙"/>
            </a:pPr>
            <a:r>
              <a:rPr b="0" lang="en-US" sz="1150" strike="noStrike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Explored real-world applications, benefits, and performance limitations of privacy-preserving ML.</a:t>
            </a:r>
            <a:endParaRPr b="0" sz="11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1" name="Google Shape;61;p5"/>
          <p:cNvGrpSpPr/>
          <p:nvPr/>
        </p:nvGrpSpPr>
        <p:grpSpPr>
          <a:xfrm>
            <a:off x="5638455" y="1691633"/>
            <a:ext cx="3611520" cy="4297320"/>
            <a:chOff x="6218280" y="1777320"/>
            <a:chExt cx="3611520" cy="4297320"/>
          </a:xfrm>
        </p:grpSpPr>
        <p:sp>
          <p:nvSpPr>
            <p:cNvPr id="62" name="Google Shape;62;p5"/>
            <p:cNvSpPr/>
            <p:nvPr/>
          </p:nvSpPr>
          <p:spPr>
            <a:xfrm>
              <a:off x="6218280" y="1777320"/>
              <a:ext cx="3611520" cy="4297320"/>
            </a:xfrm>
            <a:prstGeom prst="roundRect">
              <a:avLst>
                <a:gd fmla="val 2025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01520" rotWithShape="0" algn="bl" dir="5400000" dist="38160">
                <a:srgbClr val="1E2761">
                  <a:alpha val="12157"/>
                </a:srgbClr>
              </a:outerShdw>
            </a:effectLst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p5"/>
            <p:cNvSpPr/>
            <p:nvPr/>
          </p:nvSpPr>
          <p:spPr>
            <a:xfrm>
              <a:off x="6446880" y="1960200"/>
              <a:ext cx="1371240" cy="5482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600" strike="noStrike">
                  <a:solidFill>
                    <a:srgbClr val="E8A33D"/>
                  </a:solidFill>
                  <a:latin typeface="Cambria"/>
                  <a:ea typeface="Cambria"/>
                  <a:cs typeface="Cambria"/>
                  <a:sym typeface="Cambria"/>
                </a:rPr>
                <a:t>02</a:t>
              </a:r>
              <a:endParaRPr b="0" sz="2600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5"/>
            <p:cNvSpPr/>
            <p:nvPr/>
          </p:nvSpPr>
          <p:spPr>
            <a:xfrm>
              <a:off x="6446880" y="2463120"/>
              <a:ext cx="3154320" cy="59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 strike="noStrike">
                  <a:solidFill>
                    <a:srgbClr val="1E2761"/>
                  </a:solidFill>
                  <a:latin typeface="Calibri"/>
                  <a:ea typeface="Calibri"/>
                  <a:cs typeface="Calibri"/>
                  <a:sym typeface="Calibri"/>
                </a:rPr>
                <a:t>MCP ( Model Context Protocal</a:t>
              </a:r>
              <a:endParaRPr b="0" sz="1600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5" name="Google Shape;65;p5"/>
            <p:cNvCxnSpPr/>
            <p:nvPr/>
          </p:nvCxnSpPr>
          <p:spPr>
            <a:xfrm>
              <a:off x="6446880" y="3084840"/>
              <a:ext cx="3154680" cy="360"/>
            </a:xfrm>
            <a:prstGeom prst="straightConnector1">
              <a:avLst/>
            </a:prstGeom>
            <a:noFill/>
            <a:ln cap="flat" cmpd="sng" w="12700">
              <a:solidFill>
                <a:srgbClr val="CADCFC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6" name="Google Shape;66;p5"/>
            <p:cNvSpPr/>
            <p:nvPr/>
          </p:nvSpPr>
          <p:spPr>
            <a:xfrm>
              <a:off x="6446880" y="3240360"/>
              <a:ext cx="3154320" cy="265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343080" lvl="0" marL="34308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F2430"/>
                </a:buClr>
                <a:buSzPts val="1150"/>
                <a:buFont typeface="Noto Sans Symbols"/>
                <a:buChar char="∙"/>
              </a:pPr>
              <a:r>
                <a:rPr b="0" lang="en-US" sz="1150" strike="noStrike">
                  <a:solidFill>
                    <a:srgbClr val="1F2430"/>
                  </a:solidFill>
                  <a:latin typeface="Calibri"/>
                  <a:ea typeface="Calibri"/>
                  <a:cs typeface="Calibri"/>
                  <a:sym typeface="Calibri"/>
                </a:rPr>
                <a:t>Learned the basics of Model Context Protocol (MCP) and its purpose in connecting AI applications with external tools and data.</a:t>
              </a:r>
              <a:endParaRPr b="0" sz="115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43080" lvl="0" marL="343080" marR="0" rtl="0" algn="l">
                <a:lnSpc>
                  <a:spcPct val="115000"/>
                </a:lnSpc>
                <a:spcBef>
                  <a:spcPts val="1616"/>
                </a:spcBef>
                <a:spcAft>
                  <a:spcPts val="0"/>
                </a:spcAft>
                <a:buClr>
                  <a:srgbClr val="1F2430"/>
                </a:buClr>
                <a:buSzPts val="1150"/>
                <a:buFont typeface="Noto Sans Symbols"/>
                <a:buChar char="∙"/>
              </a:pPr>
              <a:r>
                <a:rPr b="0" lang="en-US" sz="1150" strike="noStrike">
                  <a:solidFill>
                    <a:srgbClr val="1F2430"/>
                  </a:solidFill>
                  <a:latin typeface="Calibri"/>
                  <a:ea typeface="Calibri"/>
                  <a:cs typeface="Calibri"/>
                  <a:sym typeface="Calibri"/>
                </a:rPr>
                <a:t>Understood the MCP architecture, including Hosts, Clients, Servers, Tools, Resources, and Prompts.</a:t>
              </a:r>
              <a:endParaRPr b="0" sz="115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43080" lvl="0" marL="343080" marR="0" rtl="0" algn="l">
                <a:lnSpc>
                  <a:spcPct val="115000"/>
                </a:lnSpc>
                <a:spcBef>
                  <a:spcPts val="1616"/>
                </a:spcBef>
                <a:spcAft>
                  <a:spcPts val="0"/>
                </a:spcAft>
                <a:buClr>
                  <a:srgbClr val="1F2430"/>
                </a:buClr>
                <a:buSzPts val="1150"/>
                <a:buFont typeface="Noto Sans Symbols"/>
                <a:buChar char="∙"/>
              </a:pPr>
              <a:r>
                <a:rPr b="0" lang="en-US" sz="1150" strike="noStrike">
                  <a:solidFill>
                    <a:srgbClr val="1F2430"/>
                  </a:solidFill>
                  <a:latin typeface="Calibri"/>
                  <a:ea typeface="Calibri"/>
                  <a:cs typeface="Calibri"/>
                  <a:sym typeface="Calibri"/>
                </a:rPr>
                <a:t>Explored MCP server integration, use cases, communication, and security for AI-powered applications.</a:t>
              </a:r>
              <a:endParaRPr b="0" sz="115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7" name="Google Shape;67;p5"/>
          <p:cNvSpPr/>
          <p:nvPr/>
        </p:nvSpPr>
        <p:spPr>
          <a:xfrm>
            <a:off x="8512920" y="2377440"/>
            <a:ext cx="3154320" cy="59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457200" y="6473880"/>
            <a:ext cx="731484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Future Club BCR–BLR  •  All Hub Meeting Report</a:t>
            </a:r>
            <a:endParaRPr b="0" sz="900" strike="noStrik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9902880" y="6473880"/>
            <a:ext cx="182844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sz="900" strike="noStrik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C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"/>
          <p:cNvSpPr/>
          <p:nvPr/>
        </p:nvSpPr>
        <p:spPr>
          <a:xfrm>
            <a:off x="548640" y="411480"/>
            <a:ext cx="9143640" cy="548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Future Plans		</a:t>
            </a:r>
            <a:endParaRPr b="0" sz="3000" strike="noStrik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548640" y="1005840"/>
            <a:ext cx="1051524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Things we are planning to do next moth</a:t>
            </a:r>
            <a:endParaRPr b="0" sz="1300" strike="noStrik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6"/>
          <p:cNvSpPr/>
          <p:nvPr/>
        </p:nvSpPr>
        <p:spPr>
          <a:xfrm>
            <a:off x="8512920" y="2377440"/>
            <a:ext cx="3154320" cy="59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457200" y="6473880"/>
            <a:ext cx="731484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Future Club BCR–BLR  •  All Hub Meeting Report</a:t>
            </a:r>
            <a:endParaRPr b="0" sz="900" strike="noStrik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9902880" y="6473880"/>
            <a:ext cx="182844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sz="900" strike="noStrik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6"/>
          <p:cNvSpPr txBox="1"/>
          <p:nvPr/>
        </p:nvSpPr>
        <p:spPr>
          <a:xfrm>
            <a:off x="1008800" y="1791950"/>
            <a:ext cx="8753700" cy="34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AutoNum type="arabicPeriod"/>
            </a:pPr>
            <a:r>
              <a:rPr b="1" lang="en-US" sz="1800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Introduce an n8n module: </a:t>
            </a:r>
            <a:r>
              <a:rPr b="1" lang="en-US" sz="1600" strike="noStrik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Add a dedicated section covering n8n workflow automation, including its core concepts, integrations, workflow creation, and practical hands-on exercises to help participants build real automation workflows.</a:t>
            </a:r>
            <a:endParaRPr b="1" sz="1600" strike="noStrike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AutoNum type="arabicPeriod"/>
            </a:pPr>
            <a:r>
              <a:rPr b="1" lang="en-US" sz="1800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Industry/Alumni Interactive Session:</a:t>
            </a:r>
            <a:r>
              <a:rPr b="1" lang="en-US" sz="1600" strike="noStrik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 Invite an experienced alumni member or industry professional to conduct an interactive session, providing practical insights into real-world development, career opportunities, industry expectations, and professional experiences.</a:t>
            </a:r>
            <a:endParaRPr b="0" sz="1600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6"/>
          <p:cNvSpPr txBox="1"/>
          <p:nvPr/>
        </p:nvSpPr>
        <p:spPr>
          <a:xfrm>
            <a:off x="4800600" y="-457200"/>
            <a:ext cx="18072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/>
          <p:cNvSpPr/>
          <p:nvPr/>
        </p:nvSpPr>
        <p:spPr>
          <a:xfrm>
            <a:off x="2980070" y="2808295"/>
            <a:ext cx="73149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Thank You !!!</a:t>
            </a:r>
            <a:endParaRPr b="0" sz="6400" strike="noStrik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7"/>
          <p:cNvSpPr/>
          <p:nvPr/>
        </p:nvSpPr>
        <p:spPr>
          <a:xfrm>
            <a:off x="2324220" y="1962690"/>
            <a:ext cx="10240800" cy="100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50" strike="noStrik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7"/>
          <p:cNvSpPr/>
          <p:nvPr/>
        </p:nvSpPr>
        <p:spPr>
          <a:xfrm>
            <a:off x="6587070" y="3640340"/>
            <a:ext cx="73149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FUTURE CLUB BCR–BLR</a:t>
            </a:r>
            <a:endParaRPr b="0" sz="1100" strike="noStrik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504848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